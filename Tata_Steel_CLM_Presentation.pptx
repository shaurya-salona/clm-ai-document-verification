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640080"/>
            <a:ext cx="10728655" cy="5577840"/>
          </a:xfrm>
          <a:prstGeom prst="roundRect">
            <a:avLst/>
          </a:prstGeom>
          <a:solidFill>
            <a:srgbClr val="172036"/>
          </a:solidFill>
          <a:ln w="25400">
            <a:solidFill>
              <a:srgbClr val="284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88720" y="1051560"/>
            <a:ext cx="5303520" cy="384048"/>
          </a:xfrm>
          <a:prstGeom prst="roundRect">
            <a:avLst/>
          </a:prstGeom>
          <a:solidFill>
            <a:srgbClr val="0C2D5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0F2FE"/>
                </a:solidFill>
              </a:defRPr>
            </a:pPr>
            <a:r>
              <a:t>🏛️ TATA STEEL LIMITED • CWR CELL AUTOMATION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0020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AI-Based Document Verification for</a:t>
            </a:r>
            <a:br/>
            <a:r>
              <a:t>Vendor Registration in CLM</a:t>
            </a:r>
          </a:p>
          <a:p>
            <a:pPr>
              <a:spcBef>
                <a:spcPts val="800"/>
              </a:spcBef>
              <a:defRPr sz="1500">
                <a:solidFill>
                  <a:srgbClr val="38BDF8"/>
                </a:solidFill>
              </a:defRPr>
            </a:pPr>
            <a:r>
              <a:t>End-to-End Enterprise Solution • Statutory Compliance &amp; Automated Verification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3931920"/>
            <a:ext cx="4754880" cy="1828800"/>
          </a:xfrm>
          <a:prstGeom prst="roundRect">
            <a:avLst/>
          </a:prstGeom>
          <a:solidFill>
            <a:srgbClr val="1E2945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069080"/>
            <a:ext cx="4389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DEVELOPER &amp; INTERN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Shaurya Salona</a:t>
            </a:r>
          </a:p>
          <a:p>
            <a:pPr>
              <a:spcBef>
                <a:spcPts val="200"/>
              </a:spcBef>
              <a:defRPr sz="1100">
                <a:solidFill>
                  <a:srgbClr val="E2E8F0"/>
                </a:solidFill>
              </a:defRPr>
            </a:pPr>
            <a:r>
              <a:t>Full-Stack AI Software Engineering Intern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4754880" cy="1828800"/>
          </a:xfrm>
          <a:prstGeom prst="roundRect">
            <a:avLst/>
          </a:prstGeom>
          <a:solidFill>
            <a:srgbClr val="1E2945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069080"/>
            <a:ext cx="4389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D399"/>
                </a:solidFill>
              </a:defRPr>
            </a:pPr>
            <a:r>
              <a:t>PROJECT MENTOR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Mr. Manab Dey</a:t>
            </a:r>
          </a:p>
          <a:p>
            <a:pPr>
              <a:spcBef>
                <a:spcPts val="200"/>
              </a:spcBef>
              <a:defRPr sz="1100">
                <a:solidFill>
                  <a:srgbClr val="E2E8F0"/>
                </a:solidFill>
              </a:defRPr>
            </a:pPr>
            <a:r>
              <a:t>Tata Steel Limited • Industrial Automation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5303520" cy="292608"/>
          </a:xfrm>
          <a:prstGeom prst="roundRect">
            <a:avLst/>
          </a:prstGeom>
          <a:solidFill>
            <a:srgbClr val="0F2341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38BDF8"/>
                </a:solidFill>
                <a:latin typeface="Arial"/>
              </a:defRPr>
            </a:pPr>
            <a:r>
              <a:t>⚡ TATA STEEL LIMITED • CONTRACT WORKMAN REGULATION (CWR)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Executive Summary &amp; Industrial 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514600" cy="1051560"/>
          </a:xfrm>
          <a:prstGeom prst="roundRect">
            <a:avLst/>
          </a:prstGeom>
          <a:solidFill>
            <a:srgbClr val="1E2945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44752"/>
            <a:ext cx="2514600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8BDF8"/>
                </a:solidFill>
              </a:defRPr>
            </a:pPr>
            <a:r>
              <a:t>Faster</a:t>
            </a:r>
          </a:p>
          <a:p>
            <a:pPr algn="ctr">
              <a:spcBef>
                <a:spcPts val="200"/>
              </a:spcBef>
              <a:defRPr sz="900" b="1">
                <a:solidFill>
                  <a:srgbClr val="94A3B8"/>
                </a:solidFill>
              </a:defRPr>
            </a:pPr>
            <a:r>
              <a:t>VERIFICATION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371600"/>
            <a:ext cx="2514600" cy="1051560"/>
          </a:xfrm>
          <a:prstGeom prst="roundRect">
            <a:avLst/>
          </a:prstGeom>
          <a:solidFill>
            <a:srgbClr val="1E2945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6432" y="1444752"/>
            <a:ext cx="2514600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D399"/>
                </a:solidFill>
              </a:defRPr>
            </a:pPr>
            <a:r>
              <a:t>SOP-Aligned</a:t>
            </a:r>
          </a:p>
          <a:p>
            <a:pPr algn="ctr">
              <a:spcBef>
                <a:spcPts val="200"/>
              </a:spcBef>
              <a:defRPr sz="900" b="1">
                <a:solidFill>
                  <a:srgbClr val="94A3B8"/>
                </a:solidFill>
              </a:defRPr>
            </a:pPr>
            <a:r>
              <a:t>VALIDATION CHECKS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371600"/>
            <a:ext cx="2514600" cy="1051560"/>
          </a:xfrm>
          <a:prstGeom prst="roundRect">
            <a:avLst/>
          </a:prstGeom>
          <a:solidFill>
            <a:srgbClr val="1E2945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1344" y="1444752"/>
            <a:ext cx="2514600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BBF24"/>
                </a:solidFill>
              </a:defRPr>
            </a:pPr>
            <a:r>
              <a:t>In-Memory</a:t>
            </a:r>
          </a:p>
          <a:p>
            <a:pPr algn="ctr">
              <a:spcBef>
                <a:spcPts val="200"/>
              </a:spcBef>
              <a:defRPr sz="900" b="1">
                <a:solidFill>
                  <a:srgbClr val="94A3B8"/>
                </a:solidFill>
              </a:defRPr>
            </a:pPr>
            <a:r>
              <a:t>FAST OCR EXTRACTION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371600"/>
            <a:ext cx="2551176" cy="1051560"/>
          </a:xfrm>
          <a:prstGeom prst="roundRect">
            <a:avLst/>
          </a:prstGeom>
          <a:solidFill>
            <a:srgbClr val="1E2945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06256" y="1444752"/>
            <a:ext cx="2551176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084FC"/>
                </a:solidFill>
              </a:defRPr>
            </a:pPr>
            <a:r>
              <a:t>10/10</a:t>
            </a:r>
          </a:p>
          <a:p>
            <a:pPr algn="ctr">
              <a:spcBef>
                <a:spcPts val="200"/>
              </a:spcBef>
              <a:defRPr sz="900" b="1">
                <a:solidFill>
                  <a:srgbClr val="94A3B8"/>
                </a:solidFill>
              </a:defRPr>
            </a:pPr>
            <a:r>
              <a:t>AUTOMATED TESTS PASSED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606040"/>
            <a:ext cx="3328416" cy="3794760"/>
          </a:xfrm>
          <a:prstGeom prst="roundRect">
            <a:avLst/>
          </a:prstGeom>
          <a:solidFill>
            <a:srgbClr val="172036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743200"/>
            <a:ext cx="2962656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🏭 Industrial Context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• Tata Steel operates across major plants (Jamshedpur, Kalinganagar, West Bokaro, Angul, Sukinda).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• Contract workers and technical vendors onboarded continuously across plant units.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• Statutory labor compliance (EPFO, ESIC, GSTN) required before gate access.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5696" y="2606040"/>
            <a:ext cx="3328416" cy="3794760"/>
          </a:xfrm>
          <a:prstGeom prst="roundRect">
            <a:avLst/>
          </a:prstGeom>
          <a:solidFill>
            <a:srgbClr val="172036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08576" y="2743200"/>
            <a:ext cx="2962656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🎯 Core Objective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• Transform manual multi-step paper submissions into an automated digital web pipeline.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• Assist CWR Cell approvers by minimizing manual paperwork delays during peak periods.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• Enforce standardized registration rules automatically across all plant locations.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2606040"/>
            <a:ext cx="3328416" cy="3794760"/>
          </a:xfrm>
          <a:prstGeom prst="roundRect">
            <a:avLst/>
          </a:prstGeom>
          <a:solidFill>
            <a:srgbClr val="172036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2743200"/>
            <a:ext cx="2962656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BBF24"/>
                </a:solidFill>
              </a:defRPr>
            </a:pPr>
            <a:r>
              <a:t>⚡ System Innovations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• Fast in-memory PyMuPDF OCR text extraction without temporary disk files.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• Deterministic Python statutory validators (capacity caps, date checks, format validation).</a:t>
            </a:r>
          </a:p>
          <a:p>
            <a:pPr>
              <a:spcBef>
                <a:spcPts val="800"/>
              </a:spcBef>
              <a:defRPr sz="1100">
                <a:solidFill>
                  <a:srgbClr val="E2E8F0"/>
                </a:solidFill>
              </a:defRPr>
            </a:pPr>
            <a:r>
              <a:t>• 3-Tier AI Advisory Pipeline with strict Human-in-the-Loop governance.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5303520" cy="292608"/>
          </a:xfrm>
          <a:prstGeom prst="roundRect">
            <a:avLst/>
          </a:prstGeom>
          <a:solidFill>
            <a:srgbClr val="0F2341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38BDF8"/>
                </a:solidFill>
                <a:latin typeface="Arial"/>
              </a:defRPr>
            </a:pPr>
            <a:r>
              <a:t>⚡ TATA STEEL LIMITED • CONTRACT WORKMAN REGULATION (CWR)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Problem Statement &amp; Verification Challenges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66360" cy="4937760"/>
          </a:xfrm>
          <a:prstGeom prst="roundRect">
            <a:avLst/>
          </a:prstGeom>
          <a:solidFill>
            <a:srgbClr val="1E141E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54480"/>
            <a:ext cx="4709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7171"/>
                </a:solidFill>
              </a:defRPr>
            </a:pPr>
            <a:r>
              <a:t>⚠️ Manual Verification Bottlenecks</a:t>
            </a:r>
          </a:p>
          <a:p>
            <a:pPr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▶ Processing Delays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Manual scrutiny of multi-page PDF certificates across various departments creates verification delays.</a:t>
            </a:r>
          </a:p>
          <a:p>
            <a:pPr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▶ Shutdown Volume Spikes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Large numbers of vendor registration files arrive during plant shutdown periods.</a:t>
            </a:r>
          </a:p>
          <a:p>
            <a:pPr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▶ Risk of Discrepancies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Potential human oversight in matching GSTIN formats, EPFO establishment numbers, and W.O. validity dates.</a:t>
            </a:r>
          </a:p>
          <a:p>
            <a:pPr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▶ Labor Capacity Overruns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Need for automated checks to ensure manpower strength conforms to plant limits.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166360" cy="4937760"/>
          </a:xfrm>
          <a:prstGeom prst="roundRect">
            <a:avLst/>
          </a:prstGeom>
          <a:solidFill>
            <a:srgbClr val="12262D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4709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</a:defRPr>
            </a:pPr>
            <a:r>
              <a:t>💡 Automated CLM Verification Solution</a:t>
            </a:r>
          </a:p>
          <a:p>
            <a:pPr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✔ Faster Verification Flow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Automated parsing and instant rule verification streamlines the onboarding cycle.</a:t>
            </a:r>
          </a:p>
          <a:p>
            <a:pPr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✔ Deterministic Reliability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Deterministic Python validators immediately verify statutory formats and validity dates.</a:t>
            </a:r>
          </a:p>
          <a:p>
            <a:pPr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✔ Intelligent AI Advisory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LLMs analyze extracted text against Tata Steel standards to provide structured observations.</a:t>
            </a:r>
          </a:p>
          <a:p>
            <a:pPr>
              <a:spcBef>
                <a:spcPts val="800"/>
              </a:spcBef>
              <a:defRPr sz="1200" b="1">
                <a:solidFill>
                  <a:srgbClr val="FFFFFF"/>
                </a:solidFill>
              </a:defRPr>
            </a:pPr>
            <a:r>
              <a:t>✔ Human Decision Governance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Final decision authority remains with authorized human approvers.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5303520" cy="292608"/>
          </a:xfrm>
          <a:prstGeom prst="roundRect">
            <a:avLst/>
          </a:prstGeom>
          <a:solidFill>
            <a:srgbClr val="0F2341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38BDF8"/>
                </a:solidFill>
                <a:latin typeface="Arial"/>
              </a:defRPr>
            </a:pPr>
            <a:r>
              <a:t>⚡ TATA STEEL LIMITED • CONTRACT WORKMAN REGULATION (CWR)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Eligibility Criteria &amp; Tata Steel SOP Framework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4937760"/>
          </a:xfrm>
          <a:prstGeom prst="roundRect">
            <a:avLst/>
          </a:prstGeom>
          <a:solidFill>
            <a:srgbClr val="172036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8001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8BDF8"/>
                </a:solidFill>
              </a:defRPr>
            </a:pPr>
            <a:r>
              <a:t>Standard Operating Procedure (SOP) Requirements defined by Tata Steel CWR Cell:</a:t>
            </a:r>
          </a:p>
          <a:p>
            <a:pPr>
              <a:spcBef>
                <a:spcPts val="800"/>
              </a:spcBef>
              <a:defRPr sz="1250" b="1">
                <a:solidFill>
                  <a:srgbClr val="38BDF8"/>
                </a:solidFill>
              </a:defRPr>
            </a:pPr>
            <a:r>
              <a:t>✔ 1. TSL Registration Requirement (SOP Rule #1)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    Vendor must be registered with Tata Steel Limited (TSL) before initiating the registration process in the CLM portal.</a:t>
            </a:r>
          </a:p>
          <a:p>
            <a:pPr>
              <a:spcBef>
                <a:spcPts val="800"/>
              </a:spcBef>
              <a:defRPr sz="1250" b="1">
                <a:solidFill>
                  <a:srgbClr val="34D399"/>
                </a:solidFill>
              </a:defRPr>
            </a:pPr>
            <a:r>
              <a:t>✔ 2. Valid Order Possession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    Vendor must possess an active Work Order (W.O.) for Contractors or Purchase Order (P.O.) for Suppliers.</a:t>
            </a:r>
          </a:p>
          <a:p>
            <a:pPr>
              <a:spcBef>
                <a:spcPts val="800"/>
              </a:spcBef>
              <a:defRPr sz="1250" b="1">
                <a:solidFill>
                  <a:srgbClr val="FBBF24"/>
                </a:solidFill>
              </a:defRPr>
            </a:pPr>
            <a:r>
              <a:t>✔ 3. Manpower Capacity Limits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    Labour Capacity: Maximum 9 for Contractors and Maximum 4 for Suppliers (as per SOP limits).</a:t>
            </a:r>
          </a:p>
          <a:p>
            <a:pPr>
              <a:spcBef>
                <a:spcPts val="800"/>
              </a:spcBef>
              <a:defRPr sz="1250" b="1">
                <a:solidFill>
                  <a:srgbClr val="38BDF8"/>
                </a:solidFill>
              </a:defRPr>
            </a:pPr>
            <a:r>
              <a:t>✔ 4. Labour Licence SOP Rules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    Labour Licence Flag: No | Labour Licence Number: N.A. | Expiry Date: Work Order validity end date.</a:t>
            </a:r>
          </a:p>
          <a:p>
            <a:pPr>
              <a:spcBef>
                <a:spcPts val="800"/>
              </a:spcBef>
              <a:defRPr sz="1250" b="1">
                <a:solidFill>
                  <a:srgbClr val="34D399"/>
                </a:solidFill>
              </a:defRPr>
            </a:pPr>
            <a:r>
              <a:t>✔ 5. Mandatory Statutory Documentation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    Contractors upload 4 documents (W.O., Registration, PF, ESI). Suppliers upload 2 documents (P.O./W.O., Registration).</a:t>
            </a:r>
          </a:p>
          <a:p>
            <a:pPr>
              <a:spcBef>
                <a:spcPts val="800"/>
              </a:spcBef>
              <a:defRPr sz="1250" b="1">
                <a:solidFill>
                  <a:srgbClr val="FBBF24"/>
                </a:solidFill>
              </a:defRPr>
            </a:pPr>
            <a:r>
              <a:t>✔ 6. Government Portal Verification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    CWR Cell cross-verifies establishment codes directly with official EPFO and ESIC government lookup portals.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5303520" cy="292608"/>
          </a:xfrm>
          <a:prstGeom prst="roundRect">
            <a:avLst/>
          </a:prstGeom>
          <a:solidFill>
            <a:srgbClr val="0F2341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38BDF8"/>
                </a:solidFill>
                <a:latin typeface="Arial"/>
              </a:defRPr>
            </a:pPr>
            <a:r>
              <a:t>⚡ TATA STEEL LIMITED • CONTRACT WORKMAN REGULATION (CWR)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Differentiated Business Rules • Contractor vs. Supplier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66360" cy="493776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4709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👷 CONTRACTOR (Labour Contractor)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▶ Labour Capacity Limit: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Maximum ≤ 9 Workers (as per Tata Steel SOP limit)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▶ Order Document: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Valid Work Order (W.O.) with active validity dates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▶ PF &amp; ESI Compliance: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Mandatory: PF Flag = Yes, ESI Flag = Yes (Applicable Codes required)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▶ Labour Licence Flag: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Marked 'No' (N.A.) | Expiry: Work Order validity end date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▶ Mandatory Documents (4):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1. Work Order  2. Reg. Certificate  3. PF Letter  4. ESI Letter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▶ Nature of Work: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Specific operational job description as per W.O.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166360" cy="4937760"/>
          </a:xfrm>
          <a:prstGeom prst="roundRect">
            <a:avLst/>
          </a:prstGeom>
          <a:solidFill>
            <a:srgbClr val="142A2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4709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4D399"/>
                </a:solidFill>
              </a:defRPr>
            </a:pPr>
            <a:r>
              <a:t>📦 SUPPLIER (Material / Equipment Vendor)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▶ Labour Capacity Limit: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Maximum ≤ 4 Workers (as per Tata Steel SOP limit)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▶ Order Document: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Valid Purchase Order (P.O.) or Delivery Order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▶ PF &amp; ESI Compliance: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Exempt: PF Flag = No, ESI Flag = No (for Suppliers)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▶ Labour Licence Flag: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Marked 'No' (N.A.) | Expiry: Work Order/P.O. validity end date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▶ Mandatory Documents (2):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1. Purchase / Work Order  2. Registration Certificate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▶ Nature of Work: 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Supply description as per P.O./W.O.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5303520" cy="292608"/>
          </a:xfrm>
          <a:prstGeom prst="roundRect">
            <a:avLst/>
          </a:prstGeom>
          <a:solidFill>
            <a:srgbClr val="0F2341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38BDF8"/>
                </a:solidFill>
                <a:latin typeface="Arial"/>
              </a:defRPr>
            </a:pPr>
            <a:r>
              <a:t>⚡ TATA STEEL LIMITED • CONTRACT WORKMAN REGULATION (CWR)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End-to-End CLM Vendor Registration Workflow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029968" cy="2331720"/>
          </a:xfrm>
          <a:prstGeom prst="roundRect">
            <a:avLst/>
          </a:prstGeom>
          <a:solidFill>
            <a:srgbClr val="1E2945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481328"/>
            <a:ext cx="1810512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Step 1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Vendor Login &amp; Auth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2FA Email OTP / JWT login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1" y="1371600"/>
            <a:ext cx="2029968" cy="2331720"/>
          </a:xfrm>
          <a:prstGeom prst="roundRect">
            <a:avLst/>
          </a:prstGeom>
          <a:solidFill>
            <a:srgbClr val="1E2945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19" y="1481328"/>
            <a:ext cx="1810512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Step 2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Select Plant Site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Jamshedpur, Kalinganagar, etc.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371600"/>
            <a:ext cx="2029968" cy="2331720"/>
          </a:xfrm>
          <a:prstGeom prst="roundRect">
            <a:avLst/>
          </a:prstGeom>
          <a:solidFill>
            <a:srgbClr val="1E2945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93792" y="1481328"/>
            <a:ext cx="1810512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</a:defRPr>
            </a:pPr>
            <a:r>
              <a:t>Step 3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Select Vendor Type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Contractor (≤9) vs Supplier (≤4)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1371600"/>
            <a:ext cx="2029968" cy="2331720"/>
          </a:xfrm>
          <a:prstGeom prst="roundRect">
            <a:avLst/>
          </a:prstGeom>
          <a:solidFill>
            <a:srgbClr val="1E2945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1481328"/>
            <a:ext cx="1810512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Step 4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Fill Details &amp; Form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Owner, GSTIN, Address, Codes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1371600"/>
            <a:ext cx="2029968" cy="2331720"/>
          </a:xfrm>
          <a:prstGeom prst="roundRect">
            <a:avLst/>
          </a:prstGeom>
          <a:solidFill>
            <a:srgbClr val="1E2945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46336" y="1481328"/>
            <a:ext cx="1810512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Step 5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Upload Documents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Work Order, Reg, PF, ESI PDFs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2029968" cy="2331720"/>
          </a:xfrm>
          <a:prstGeom prst="roundRect">
            <a:avLst/>
          </a:prstGeom>
          <a:solidFill>
            <a:srgbClr val="1E2945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995928"/>
            <a:ext cx="1810512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Step 6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Select Site Approver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Location-based approver list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07791" y="3886200"/>
            <a:ext cx="2029968" cy="2331720"/>
          </a:xfrm>
          <a:prstGeom prst="roundRect">
            <a:avLst/>
          </a:prstGeom>
          <a:solidFill>
            <a:srgbClr val="1E2945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17519" y="3995928"/>
            <a:ext cx="1810512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</a:defRPr>
            </a:pPr>
            <a:r>
              <a:t>Step 7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Submit &amp; OCR Parse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In-memory PyMuPDF extraction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84064" y="3886200"/>
            <a:ext cx="2029968" cy="2331720"/>
          </a:xfrm>
          <a:prstGeom prst="roundRect">
            <a:avLst/>
          </a:prstGeom>
          <a:solidFill>
            <a:srgbClr val="1E2945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93792" y="3995928"/>
            <a:ext cx="1810512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</a:defRPr>
            </a:pPr>
            <a:r>
              <a:t>Step 8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Python Validation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SOP-aligned rule checks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0336" y="3886200"/>
            <a:ext cx="2029968" cy="2331720"/>
          </a:xfrm>
          <a:prstGeom prst="roundRect">
            <a:avLst/>
          </a:prstGeom>
          <a:solidFill>
            <a:srgbClr val="1E2945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0064" y="3995928"/>
            <a:ext cx="1810512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4D399"/>
                </a:solidFill>
              </a:defRPr>
            </a:pPr>
            <a:r>
              <a:t>Step 9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AI Advisory Audit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Gemini / OpenAI structured remarks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36608" y="3886200"/>
            <a:ext cx="2029968" cy="2331720"/>
          </a:xfrm>
          <a:prstGeom prst="roundRect">
            <a:avLst/>
          </a:prstGeom>
          <a:solidFill>
            <a:srgbClr val="1E2945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46336" y="3995928"/>
            <a:ext cx="1810512" cy="2112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C084FC"/>
                </a:solidFill>
              </a:defRPr>
            </a:pPr>
            <a:r>
              <a:t>Step 10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Human Decision</a:t>
            </a:r>
          </a:p>
          <a:p>
            <a:pPr>
              <a:spcBef>
                <a:spcPts val="600"/>
              </a:spcBef>
              <a:defRPr sz="1000">
                <a:solidFill>
                  <a:srgbClr val="94A3B8"/>
                </a:solidFill>
              </a:defRPr>
            </a:pPr>
            <a:r>
              <a:t>Final decision authority by approver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5303520" cy="292608"/>
          </a:xfrm>
          <a:prstGeom prst="roundRect">
            <a:avLst/>
          </a:prstGeom>
          <a:solidFill>
            <a:srgbClr val="0F2341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38BDF8"/>
                </a:solidFill>
                <a:latin typeface="Arial"/>
              </a:defRPr>
            </a:pPr>
            <a:r>
              <a:t>⚡ TATA STEEL LIMITED • CONTRACT WORKMAN REGULATION (CWR)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System Architecture &amp; Technology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28416" cy="4937760"/>
          </a:xfrm>
          <a:prstGeom prst="roundRect">
            <a:avLst/>
          </a:prstGeom>
          <a:solidFill>
            <a:srgbClr val="1720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296265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1. FRONTEND LAYER</a:t>
            </a:r>
          </a:p>
          <a:p>
            <a:pPr>
              <a:spcBef>
                <a:spcPts val="400"/>
              </a:spcBef>
              <a:defRPr sz="1100" b="1">
                <a:solidFill>
                  <a:srgbClr val="E2E8F0"/>
                </a:solidFill>
              </a:defRPr>
            </a:pPr>
            <a:r>
              <a:t>React 18 + Vite + Tailwind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• React Single Page Application (SPA)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• Vite bundler for fast builds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• TailwindCSS custom dark design system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• Lucide React icons &amp; Glassmorphic UI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• Axios with auto-JWT bearer interceptor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371600"/>
            <a:ext cx="3328416" cy="4937760"/>
          </a:xfrm>
          <a:prstGeom prst="roundRect">
            <a:avLst/>
          </a:prstGeom>
          <a:solidFill>
            <a:srgbClr val="1720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554480"/>
            <a:ext cx="296265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2. BACKEND API</a:t>
            </a:r>
          </a:p>
          <a:p>
            <a:pPr>
              <a:spcBef>
                <a:spcPts val="400"/>
              </a:spcBef>
              <a:defRPr sz="1100" b="1">
                <a:solidFill>
                  <a:srgbClr val="E2E8F0"/>
                </a:solidFill>
              </a:defRPr>
            </a:pPr>
            <a:r>
              <a:t>FastAPI (Python 3.10+)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• FastAPI async routing &amp; Pydantic V2 schemas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• SQLAlchemy ORM for relational modeling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• PyJWT token generation (24h expiry)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• Bcrypt secure password hashing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• Real Gmail SMTP 2FA OTP with SSL fallback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371600"/>
            <a:ext cx="3328416" cy="4937760"/>
          </a:xfrm>
          <a:prstGeom prst="roundRect">
            <a:avLst/>
          </a:prstGeom>
          <a:solidFill>
            <a:srgbClr val="172036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554480"/>
            <a:ext cx="296265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BBF24"/>
                </a:solidFill>
              </a:defRPr>
            </a:pPr>
            <a:r>
              <a:t>3. DATA &amp; AI LAYER</a:t>
            </a:r>
          </a:p>
          <a:p>
            <a:pPr>
              <a:spcBef>
                <a:spcPts val="400"/>
              </a:spcBef>
              <a:defRPr sz="1100" b="1">
                <a:solidFill>
                  <a:srgbClr val="E2E8F0"/>
                </a:solidFill>
              </a:defRPr>
            </a:pPr>
            <a:r>
              <a:t>PostgreSQL + PyMuPDF + Gemini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• PostgreSQL Base64 document persistence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• Zero-disk PDF streaming architecture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• PyMuPDF in-memory text parsing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• SOP Deterministic Python Validators</a:t>
            </a:r>
          </a:p>
          <a:p>
            <a:pPr>
              <a:spcBef>
                <a:spcPts val="800"/>
              </a:spcBef>
              <a:defRPr sz="1150">
                <a:solidFill>
                  <a:srgbClr val="94A3B8"/>
                </a:solidFill>
              </a:defRPr>
            </a:pPr>
            <a:r>
              <a:t>• Gemini 2.0 Flash / OpenAI API advisory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5303520" cy="292608"/>
          </a:xfrm>
          <a:prstGeom prst="roundRect">
            <a:avLst/>
          </a:prstGeom>
          <a:solidFill>
            <a:srgbClr val="0F2341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38BDF8"/>
                </a:solidFill>
                <a:latin typeface="Arial"/>
              </a:defRPr>
            </a:pPr>
            <a:r>
              <a:t>⚡ TATA STEEL LIMITED • CONTRACT WORKMAN REGULATION (CWR)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In-Memory OCR &amp; Stream Text Extraction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66360" cy="4937760"/>
          </a:xfrm>
          <a:prstGeom prst="roundRect">
            <a:avLst/>
          </a:prstGeom>
          <a:solidFill>
            <a:srgbClr val="172036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54480"/>
            <a:ext cx="4709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⚡ PyMuPDF (fitz) In-Memory Parser</a:t>
            </a:r>
          </a:p>
          <a:p>
            <a:pPr>
              <a:spcBef>
                <a:spcPts val="800"/>
              </a:spcBef>
              <a:defRPr sz="1250" b="1">
                <a:solidFill>
                  <a:srgbClr val="FFFFFF"/>
                </a:solidFill>
              </a:defRPr>
            </a:pPr>
            <a:r>
              <a:t>✔ Direct Byte Streaming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Reads incoming PDF upload byte streams directly into memory without saving temporary files on server disk.</a:t>
            </a:r>
          </a:p>
          <a:p>
            <a:pPr>
              <a:spcBef>
                <a:spcPts val="800"/>
              </a:spcBef>
              <a:defRPr sz="1250" b="1">
                <a:solidFill>
                  <a:srgbClr val="FFFFFF"/>
                </a:solidFill>
              </a:defRPr>
            </a:pPr>
            <a:r>
              <a:t>✔ Fast Text Extraction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High-throughput text layer extraction capturing headers, tables, body text, and statutory metadata.</a:t>
            </a:r>
          </a:p>
          <a:p>
            <a:pPr>
              <a:spcBef>
                <a:spcPts val="800"/>
              </a:spcBef>
              <a:defRPr sz="1250" b="1">
                <a:solidFill>
                  <a:srgbClr val="FFFFFF"/>
                </a:solidFill>
              </a:defRPr>
            </a:pPr>
            <a:r>
              <a:t>✔ Zero Disk Leaks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Prevents server storage bloat and guarantees zero data leftover on cloud container resets.</a:t>
            </a:r>
          </a:p>
          <a:p>
            <a:pPr>
              <a:spcBef>
                <a:spcPts val="800"/>
              </a:spcBef>
              <a:defRPr sz="1250" b="1">
                <a:solidFill>
                  <a:srgbClr val="FFFFFF"/>
                </a:solidFill>
              </a:defRPr>
            </a:pPr>
            <a:r>
              <a:t>✔ Robust Fallback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Gracefully detects pure image scans and prepares contextual metadata for downstream validators.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166360" cy="4937760"/>
          </a:xfrm>
          <a:prstGeom prst="roundRect">
            <a:avLst/>
          </a:prstGeom>
          <a:solidFill>
            <a:srgbClr val="172036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4709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</a:defRPr>
            </a:pPr>
            <a:r>
              <a:t>🔍 Regex Entity Extraction Patterns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▶ GSTIN Format Regex:</a:t>
            </a:r>
          </a:p>
          <a:p>
            <a:pPr>
              <a:defRPr sz="1050">
                <a:solidFill>
                  <a:srgbClr val="FBBF24"/>
                </a:solidFill>
              </a:defRPr>
            </a:pPr>
            <a:r>
              <a:t>    [0-9]{2}[A-Z]{5}[0-9]{4}[A-Z]{1}[1-9A-Z]{1}Z[0-9A-Z]{1}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▶ EPFO Code Regex:</a:t>
            </a:r>
          </a:p>
          <a:p>
            <a:pPr>
              <a:defRPr sz="1050">
                <a:solidFill>
                  <a:srgbClr val="FBBF24"/>
                </a:solidFill>
              </a:defRPr>
            </a:pPr>
            <a:r>
              <a:t>    ([A-Z]{2}/[A-Z]{3}/[0-9]{7}/[0-9]{3})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▶ ESIC Code Regex:</a:t>
            </a:r>
          </a:p>
          <a:p>
            <a:pPr>
              <a:defRPr sz="1050">
                <a:solidFill>
                  <a:srgbClr val="FBBF24"/>
                </a:solidFill>
              </a:defRPr>
            </a:pPr>
            <a:r>
              <a:t>    ([0-9]{17}|[0-9]{2}-[0-9]{2}-[0-9]{6}-[0-9]{3})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▶ W.O. Validity Dates:</a:t>
            </a:r>
          </a:p>
          <a:p>
            <a:pPr>
              <a:defRPr sz="1050">
                <a:solidFill>
                  <a:srgbClr val="FBBF24"/>
                </a:solidFill>
              </a:defRPr>
            </a:pPr>
            <a:r>
              <a:t>    (validity|valid\s+till|expiry|period).*?(\d{1,2}[-/.]\w+[-/.]\d{2,4})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</a:defRPr>
            </a:pPr>
            <a:r>
              <a:t>▶ Entity Matching:</a:t>
            </a:r>
          </a:p>
          <a:p>
            <a:pPr>
              <a:defRPr sz="1050">
                <a:solidFill>
                  <a:srgbClr val="FBBF24"/>
                </a:solidFill>
              </a:defRPr>
            </a:pPr>
            <a:r>
              <a:t>    Cross-checks vendor name and company name against certificate text layers.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5303520" cy="292608"/>
          </a:xfrm>
          <a:prstGeom prst="roundRect">
            <a:avLst/>
          </a:prstGeom>
          <a:solidFill>
            <a:srgbClr val="0F2341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38BDF8"/>
                </a:solidFill>
                <a:latin typeface="Arial"/>
              </a:defRPr>
            </a:pPr>
            <a:r>
              <a:t>⚡ TATA STEEL LIMITED • CONTRACT WORKMAN REGULATION (CWR)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Deterministic Statutory Python Rule Checks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4937760"/>
          </a:xfrm>
          <a:prstGeom prst="roundRect">
            <a:avLst/>
          </a:prstGeom>
          <a:solidFill>
            <a:srgbClr val="172036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1018001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8BDF8"/>
                </a:solidFill>
              </a:defRPr>
            </a:pPr>
            <a:r>
              <a:t>Deterministic statutory rules run immediately upon upload before AI advisory:</a:t>
            </a:r>
          </a:p>
          <a:p>
            <a:pPr>
              <a:spcBef>
                <a:spcPts val="800"/>
              </a:spcBef>
              <a:defRPr sz="1250" b="1">
                <a:solidFill>
                  <a:srgbClr val="38BDF8"/>
                </a:solidFill>
              </a:defRPr>
            </a:pPr>
            <a:r>
              <a:t>✔ 1. TSL Registration Check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    Verifies vendor has assigned TSL registration before CLM submission (as per SOP Rule #1).</a:t>
            </a:r>
          </a:p>
          <a:p>
            <a:pPr>
              <a:spcBef>
                <a:spcPts val="800"/>
              </a:spcBef>
              <a:defRPr sz="1250" b="1">
                <a:solidFill>
                  <a:srgbClr val="34D399"/>
                </a:solidFill>
              </a:defRPr>
            </a:pPr>
            <a:r>
              <a:t>✔ 2. GSTIN Format &amp; State Alignment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    15-character statutory format check; matches state code (Jharkhand: 20, Odisha: 21) as an additional consistency check.</a:t>
            </a:r>
          </a:p>
          <a:p>
            <a:pPr>
              <a:spcBef>
                <a:spcPts val="800"/>
              </a:spcBef>
              <a:defRPr sz="1250" b="1">
                <a:solidFill>
                  <a:srgbClr val="FBBF24"/>
                </a:solidFill>
              </a:defRPr>
            </a:pPr>
            <a:r>
              <a:t>✔ 3. PIN Code Regional Alignment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    Validates 6-digit PIN code against regional postal zones as an additional consistency check.</a:t>
            </a:r>
          </a:p>
          <a:p>
            <a:pPr>
              <a:spcBef>
                <a:spcPts val="800"/>
              </a:spcBef>
              <a:defRPr sz="1250" b="1">
                <a:solidFill>
                  <a:srgbClr val="38BDF8"/>
                </a:solidFill>
              </a:defRPr>
            </a:pPr>
            <a:r>
              <a:t>✔ 4. Work Order Expiry Date Check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    Parses W.O. dates using regex; flags expired work orders immediately with discrepancy alerts.</a:t>
            </a:r>
          </a:p>
          <a:p>
            <a:pPr>
              <a:spcBef>
                <a:spcPts val="800"/>
              </a:spcBef>
              <a:defRPr sz="1250" b="1">
                <a:solidFill>
                  <a:srgbClr val="34D399"/>
                </a:solidFill>
              </a:defRPr>
            </a:pPr>
            <a:r>
              <a:t>✔ 5. PF &amp; ESI Statutory Code Validation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    Validates EPFO (AA/AAA/0000000) and ESIC (17 digits) patterns against standard statutory formats.</a:t>
            </a:r>
          </a:p>
          <a:p>
            <a:pPr>
              <a:spcBef>
                <a:spcPts val="800"/>
              </a:spcBef>
              <a:defRPr sz="1250" b="1">
                <a:solidFill>
                  <a:srgbClr val="FBBF24"/>
                </a:solidFill>
              </a:defRPr>
            </a:pPr>
            <a:r>
              <a:t>✔ 6. OCR Text Cross-Referencing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    Cross-checks owner name, company name, and code numbers directly with text extracted by PyMuPDF.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5303520" cy="292608"/>
          </a:xfrm>
          <a:prstGeom prst="roundRect">
            <a:avLst/>
          </a:prstGeom>
          <a:solidFill>
            <a:srgbClr val="0F2341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38BDF8"/>
                </a:solidFill>
                <a:latin typeface="Arial"/>
              </a:defRPr>
            </a:pPr>
            <a:r>
              <a:t>⚡ TATA STEEL LIMITED • CONTRACT WORKMAN REGULATION (CWR)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3-Tier Multi-LLM Advisory Pipeline &amp; Resilience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28416" cy="4937760"/>
          </a:xfrm>
          <a:prstGeom prst="roundRect">
            <a:avLst/>
          </a:prstGeom>
          <a:solidFill>
            <a:srgbClr val="1720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296265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TIER 1 (Primary AI)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</a:defRPr>
            </a:pPr>
            <a:r>
              <a:t>Google Gemini 2.0 Flash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Model: gemini-2.0-flash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Strict JSON schema output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Computes Match Confidence Score (e.g. 96%)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Lists discrete compliance audit items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Generates actionable suggestion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371600"/>
            <a:ext cx="3328416" cy="4937760"/>
          </a:xfrm>
          <a:prstGeom prst="roundRect">
            <a:avLst/>
          </a:prstGeom>
          <a:solidFill>
            <a:srgbClr val="1720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554480"/>
            <a:ext cx="296265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TIER 2 (Backup AI)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</a:defRPr>
            </a:pPr>
            <a:r>
              <a:t>OpenAI GPT-4o-Mini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Automatic fallback if Gemini quota is reached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Same JSON schema matching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Temperature 0.2 for deterministic output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Seamless cloud failover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371600"/>
            <a:ext cx="3328416" cy="4937760"/>
          </a:xfrm>
          <a:prstGeom prst="roundRect">
            <a:avLst/>
          </a:prstGeom>
          <a:solidFill>
            <a:srgbClr val="172036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554480"/>
            <a:ext cx="296265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BBF24"/>
                </a:solidFill>
              </a:defRPr>
            </a:pPr>
            <a:r>
              <a:t>TIER 3 (Offline Rules)</a:t>
            </a:r>
          </a:p>
          <a:p>
            <a:pPr>
              <a:spcBef>
                <a:spcPts val="400"/>
              </a:spcBef>
              <a:defRPr sz="1200" b="1">
                <a:solidFill>
                  <a:srgbClr val="FFFFFF"/>
                </a:solidFill>
              </a:defRPr>
            </a:pPr>
            <a:r>
              <a:t>Python Deterministic Engine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Always available offline (No API key needed)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Calculates score based on detected issues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Discrepancy analysis from local validators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• Guarantees continuous system availability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5303520" cy="292608"/>
          </a:xfrm>
          <a:prstGeom prst="roundRect">
            <a:avLst/>
          </a:prstGeom>
          <a:solidFill>
            <a:srgbClr val="0F2341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38BDF8"/>
                </a:solidFill>
                <a:latin typeface="Arial"/>
              </a:defRPr>
            </a:pPr>
            <a:r>
              <a:t>⚡ TATA STEEL LIMITED • CONTRACT WORKMAN REGULATION (CWR)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Human-in-the-Loop Governance &amp; CWR Portal Utilities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10728655" cy="2103120"/>
          </a:xfrm>
          <a:prstGeom prst="roundRect">
            <a:avLst/>
          </a:prstGeom>
          <a:solidFill>
            <a:srgbClr val="301414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08760"/>
            <a:ext cx="1018001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ECACA"/>
                </a:solidFill>
              </a:defRPr>
            </a:pPr>
            <a:r>
              <a:t>⚖️ GOVERNANCE BOUNDARY: AI DOES NOT APPROVE OR REJECT REQUESTS</a:t>
            </a:r>
          </a:p>
          <a:p>
            <a:pPr>
              <a:spcBef>
                <a:spcPts val="400"/>
              </a:spcBef>
              <a:defRPr sz="1100">
                <a:solidFill>
                  <a:srgbClr val="FEE2E2"/>
                </a:solidFill>
              </a:defRPr>
            </a:pPr>
            <a:r>
              <a:t>1. Strictly Advisory: AI generates match scores and compliance observations. Final decision authority is exclusively reserved for the authenticated Human Site Approver.</a:t>
            </a:r>
          </a:p>
          <a:p>
            <a:pPr>
              <a:spcBef>
                <a:spcPts val="400"/>
              </a:spcBef>
              <a:defRPr sz="1100">
                <a:solidFill>
                  <a:srgbClr val="FEE2E2"/>
                </a:solidFill>
              </a:defRPr>
            </a:pPr>
            <a:r>
              <a:t>2. Vendor Portal Privacy: All AI verification cards and confidence scores are completely hidden on the Vendor Portal to prevent bias or confusion.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39"/>
            <a:ext cx="10728655" cy="2560320"/>
          </a:xfrm>
          <a:prstGeom prst="roundRect">
            <a:avLst/>
          </a:prstGeom>
          <a:solidFill>
            <a:srgbClr val="1720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1018001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🏛️ Official Government Portal Verification Utilities (Embedded in Workstation)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▶ EPFO Establishment Search (https://unifiedportal-emp.epfindia.gov.in/publicPortal/no-auth/misReport/home/loadEstSearchHome)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    Allows CWR Cell approvers to verify establishment details and validity using establishment name and PF code.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▶ ESIC Employer Search (https://portal.esic.gov.in/EmployerSearch)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    Allows CWR Cell approvers to verify insurance coverage using establishment name and 17-digit ESI code.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5303520" cy="292608"/>
          </a:xfrm>
          <a:prstGeom prst="roundRect">
            <a:avLst/>
          </a:prstGeom>
          <a:solidFill>
            <a:srgbClr val="0F2341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38BDF8"/>
                </a:solidFill>
                <a:latin typeface="Arial"/>
              </a:defRPr>
            </a:pPr>
            <a:r>
              <a:t>⚡ TATA STEEL LIMITED • CONTRACT WORKMAN REGULATION (CWR)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Vendor Portal vs. Approver Workstation • Dual Experience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66360" cy="4937760"/>
          </a:xfrm>
          <a:prstGeom prst="roundRect">
            <a:avLst/>
          </a:prstGeom>
          <a:solidFill>
            <a:srgbClr val="1420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54480"/>
            <a:ext cx="4709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👷 VENDOR PORTAL WORKSPACE</a:t>
            </a:r>
          </a:p>
          <a:p>
            <a:pPr>
              <a:spcBef>
                <a:spcPts val="800"/>
              </a:spcBef>
              <a:defRPr sz="1250" b="1">
                <a:solidFill>
                  <a:srgbClr val="FFFFFF"/>
                </a:solidFill>
              </a:defRPr>
            </a:pPr>
            <a:r>
              <a:t>▶ Account Registration &amp; 2FA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Email OTP verification before onboarding; secure login.</a:t>
            </a:r>
          </a:p>
          <a:p>
            <a:pPr>
              <a:spcBef>
                <a:spcPts val="800"/>
              </a:spcBef>
              <a:defRPr sz="1250" b="1">
                <a:solidFill>
                  <a:srgbClr val="FFFFFF"/>
                </a:solidFill>
              </a:defRPr>
            </a:pPr>
            <a:r>
              <a:t>▶ Multi-Step Request Wizard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Interactive form validating vendor type, capacity, address, and GSTIN.</a:t>
            </a:r>
          </a:p>
          <a:p>
            <a:pPr>
              <a:spcBef>
                <a:spcPts val="800"/>
              </a:spcBef>
              <a:defRPr sz="1250" b="1">
                <a:solidFill>
                  <a:srgbClr val="FFFFFF"/>
                </a:solidFill>
              </a:defRPr>
            </a:pPr>
            <a:r>
              <a:t>▶ Document Upload Area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Uploads required PDFs with real-time format and size checks.</a:t>
            </a:r>
          </a:p>
          <a:p>
            <a:pPr>
              <a:spcBef>
                <a:spcPts val="800"/>
              </a:spcBef>
              <a:defRPr sz="1250" b="1">
                <a:solidFill>
                  <a:srgbClr val="FFFFFF"/>
                </a:solidFill>
              </a:defRPr>
            </a:pPr>
            <a:r>
              <a:t>▶ Vendor Dashboard &amp; Live Status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Tracks submission status (Pending, Approved, Rejected) with approver remarks and PDF downloads.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166360" cy="4937760"/>
          </a:xfrm>
          <a:prstGeom prst="roundRect">
            <a:avLst/>
          </a:prstGeom>
          <a:solidFill>
            <a:srgbClr val="142A2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4709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</a:defRPr>
            </a:pPr>
            <a:r>
              <a:t>👔 APPROVER WORKSTATION</a:t>
            </a:r>
          </a:p>
          <a:p>
            <a:pPr>
              <a:spcBef>
                <a:spcPts val="600"/>
              </a:spcBef>
              <a:defRPr sz="1250" b="1">
                <a:solidFill>
                  <a:srgbClr val="FFFFFF"/>
                </a:solidFill>
              </a:defRPr>
            </a:pPr>
            <a:r>
              <a:t>▶ Request Inspection Queue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Location-filtered dashboard of pending vendor requests.</a:t>
            </a:r>
          </a:p>
          <a:p>
            <a:pPr>
              <a:spcBef>
                <a:spcPts val="600"/>
              </a:spcBef>
              <a:defRPr sz="1250" b="1">
                <a:solidFill>
                  <a:srgbClr val="FFFFFF"/>
                </a:solidFill>
              </a:defRPr>
            </a:pPr>
            <a:r>
              <a:t>▶ In-Browser Document Viewer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Inspects uploaded PDF certificates alongside extracted OCR text layers.</a:t>
            </a:r>
          </a:p>
          <a:p>
            <a:pPr>
              <a:spcBef>
                <a:spcPts val="600"/>
              </a:spcBef>
              <a:defRPr sz="1250" b="1">
                <a:solidFill>
                  <a:srgbClr val="FFFFFF"/>
                </a:solidFill>
              </a:defRPr>
            </a:pPr>
            <a:r>
              <a:t>▶ Python Validation Engine Card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Displays granular pass/fail results for all deterministic rule checks.</a:t>
            </a:r>
          </a:p>
          <a:p>
            <a:pPr>
              <a:spcBef>
                <a:spcPts val="600"/>
              </a:spcBef>
              <a:defRPr sz="1250" b="1">
                <a:solidFill>
                  <a:srgbClr val="FFFFFF"/>
                </a:solidFill>
              </a:defRPr>
            </a:pPr>
            <a:r>
              <a:t>▶ AI Remarks &amp; External Portal Links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Shows Gemini advisory findings and links to EPFO/ESIC government search portals.</a:t>
            </a:r>
          </a:p>
          <a:p>
            <a:pPr>
              <a:spcBef>
                <a:spcPts val="600"/>
              </a:spcBef>
              <a:defRPr sz="1250" b="1">
                <a:solidFill>
                  <a:srgbClr val="FFFFFF"/>
                </a:solidFill>
              </a:defRPr>
            </a:pPr>
            <a:r>
              <a:t>▶ Final Decision Controls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One-click Approve / Reject with mandatory auditable decision remarks.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5303520" cy="292608"/>
          </a:xfrm>
          <a:prstGeom prst="roundRect">
            <a:avLst/>
          </a:prstGeom>
          <a:solidFill>
            <a:srgbClr val="0F2341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38BDF8"/>
                </a:solidFill>
                <a:latin typeface="Arial"/>
              </a:defRPr>
            </a:pPr>
            <a:r>
              <a:t>⚡ TATA STEEL LIMITED • CONTRACT WORKMAN REGULATION (CWR)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Security Architecture &amp; QA Test Metrics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328416" cy="4937760"/>
          </a:xfrm>
          <a:prstGeom prst="roundRect">
            <a:avLst/>
          </a:prstGeom>
          <a:solidFill>
            <a:srgbClr val="172036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296265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🔐 Security Model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✔ Bcrypt password hashing (auto-salted, 72-byte truncation).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✔ Signed PyJWT tokens with 24-hour expiration.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✔ Role-Based Access Control (@require_role).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✔ Strict 2FA Email OTP with Gmail SMTP + Port 465 SSL fallback.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✔ Protected .env secrets management.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371600"/>
            <a:ext cx="3328416" cy="4937760"/>
          </a:xfrm>
          <a:prstGeom prst="roundRect">
            <a:avLst/>
          </a:prstGeom>
          <a:solidFill>
            <a:srgbClr val="172036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554480"/>
            <a:ext cx="296265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4D399"/>
                </a:solidFill>
              </a:defRPr>
            </a:pPr>
            <a:r>
              <a:t>🧪 10/10 Pytest Suite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✔ test_auth.py: Registration &amp; JWT login.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✔ test_validators.py: GSTIN regex &amp; payloads.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✔ test_vendors.py: Capacity limits (≤9 vs ≤4).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✔ test_cross_reference: OCR vs form matching.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✔ Automated Test Pass Rate in 0.02s.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2" y="1371600"/>
            <a:ext cx="3328416" cy="4937760"/>
          </a:xfrm>
          <a:prstGeom prst="roundRect">
            <a:avLst/>
          </a:prstGeom>
          <a:solidFill>
            <a:srgbClr val="172036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02752" y="1554480"/>
            <a:ext cx="2962656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BBF24"/>
                </a:solidFill>
              </a:defRPr>
            </a:pPr>
            <a:r>
              <a:t>☁️ Cloud Deployment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✔ Render Cloud Native via render.yaml blueprint.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✔ PostgreSQL Managed Database persistence.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✔ 100% Base64 PDF storage (zero ephemeral disk loss).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✔ Vite production bundle built with zero errors.</a:t>
            </a:r>
          </a:p>
          <a:p>
            <a:pPr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✔ Single-command local runner (./start.sh).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20040"/>
            <a:ext cx="5303520" cy="292608"/>
          </a:xfrm>
          <a:prstGeom prst="roundRect">
            <a:avLst/>
          </a:prstGeom>
          <a:solidFill>
            <a:srgbClr val="0F2341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950" b="1">
                <a:solidFill>
                  <a:srgbClr val="38BDF8"/>
                </a:solidFill>
                <a:latin typeface="Arial"/>
              </a:defRPr>
            </a:pPr>
            <a:r>
              <a:t>⚡ TATA STEEL LIMITED • CONTRACT WORKMAN REGULATION (CWR)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Arial"/>
              </a:defRPr>
            </a:pPr>
            <a:r>
              <a:t>Project Conclusion &amp; Future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66360" cy="4937760"/>
          </a:xfrm>
          <a:prstGeom prst="roundRect">
            <a:avLst/>
          </a:prstGeom>
          <a:solidFill>
            <a:srgbClr val="1424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54480"/>
            <a:ext cx="4709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🎯 PROJECT CONCLUSION</a:t>
            </a:r>
          </a:p>
          <a:p>
            <a:pPr>
              <a:spcBef>
                <a:spcPts val="800"/>
              </a:spcBef>
              <a:defRPr sz="1250" b="1">
                <a:solidFill>
                  <a:srgbClr val="FFFFFF"/>
                </a:solidFill>
              </a:defRPr>
            </a:pPr>
            <a:r>
              <a:t>▶ Automated Assistance Achieved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Replaces manual document cross-checking with fast in-memory OCR &amp; deterministic statutory rules.</a:t>
            </a:r>
          </a:p>
          <a:p>
            <a:pPr>
              <a:spcBef>
                <a:spcPts val="800"/>
              </a:spcBef>
              <a:defRPr sz="1250" b="1">
                <a:solidFill>
                  <a:srgbClr val="FFFFFF"/>
                </a:solidFill>
              </a:defRPr>
            </a:pPr>
            <a:r>
              <a:t>▶ Strict Human Governance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Maintains compliance by keeping final decision authority with authenticated site approvers.</a:t>
            </a:r>
          </a:p>
          <a:p>
            <a:pPr>
              <a:spcBef>
                <a:spcPts val="800"/>
              </a:spcBef>
              <a:defRPr sz="1250" b="1">
                <a:solidFill>
                  <a:srgbClr val="FFFFFF"/>
                </a:solidFill>
              </a:defRPr>
            </a:pPr>
            <a:r>
              <a:t>▶ Streamlined Turnaround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Significantly reduces vendor registration cycle time with automated verification.</a:t>
            </a:r>
          </a:p>
          <a:p>
            <a:pPr>
              <a:spcBef>
                <a:spcPts val="800"/>
              </a:spcBef>
              <a:defRPr sz="1250" b="1">
                <a:solidFill>
                  <a:srgbClr val="FFFFFF"/>
                </a:solidFill>
              </a:defRPr>
            </a:pPr>
            <a:r>
              <a:t>▶ Audit-Ready Trail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Full historical record of Base64 documents, OCR texts, validation logs, and approver remarks.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166360" cy="4937760"/>
          </a:xfrm>
          <a:prstGeom prst="roundRect">
            <a:avLst/>
          </a:prstGeom>
          <a:solidFill>
            <a:srgbClr val="142A24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4709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34D399"/>
                </a:solidFill>
              </a:defRPr>
            </a:pPr>
            <a:r>
              <a:t>🚀 FUTURE SCOPE &amp; ENTERPRISE ROADMAP</a:t>
            </a:r>
          </a:p>
          <a:p>
            <a:pPr>
              <a:spcBef>
                <a:spcPts val="800"/>
              </a:spcBef>
              <a:defRPr sz="1250" b="1">
                <a:solidFill>
                  <a:srgbClr val="FFFFFF"/>
                </a:solidFill>
              </a:defRPr>
            </a:pPr>
            <a:r>
              <a:t>▶ Direct SAP / ERP Integration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Automated sync with Tata Steel's core ERP and CLM systems (if permitted by Tata Steel IT security).</a:t>
            </a:r>
          </a:p>
          <a:p>
            <a:pPr>
              <a:spcBef>
                <a:spcPts val="800"/>
              </a:spcBef>
              <a:defRPr sz="1250" b="1">
                <a:solidFill>
                  <a:srgbClr val="FFFFFF"/>
                </a:solidFill>
              </a:defRPr>
            </a:pPr>
            <a:r>
              <a:t>▶ Live Government API Connectors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Direct API verification with GSTN portal and EPFO Establishment search services.</a:t>
            </a:r>
          </a:p>
          <a:p>
            <a:pPr>
              <a:spcBef>
                <a:spcPts val="800"/>
              </a:spcBef>
              <a:defRPr sz="1250" b="1">
                <a:solidFill>
                  <a:srgbClr val="FFFFFF"/>
                </a:solidFill>
              </a:defRPr>
            </a:pPr>
            <a:r>
              <a:t>▶ Enhanced Multi-Page OCR Models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Tesseract / LayoutLM fine-tuning for low-quality scanned photocopies.</a:t>
            </a:r>
          </a:p>
          <a:p>
            <a:pPr>
              <a:spcBef>
                <a:spcPts val="800"/>
              </a:spcBef>
              <a:defRPr sz="1250" b="1">
                <a:solidFill>
                  <a:srgbClr val="FFFFFF"/>
                </a:solidFill>
              </a:defRPr>
            </a:pPr>
            <a:r>
              <a:t>▶ Plant Gate Turnstile Hardware Linkage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Export of approved worker counts and dates directly to physical plant turnstile systems.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